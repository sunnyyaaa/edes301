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1" r:id="rId2"/>
    <p:sldId id="367" r:id="rId3"/>
    <p:sldId id="372" r:id="rId4"/>
    <p:sldId id="368" r:id="rId5"/>
    <p:sldId id="370" r:id="rId6"/>
    <p:sldId id="3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87" autoAdjust="0"/>
    <p:restoredTop sz="94629" autoAdjust="0"/>
  </p:normalViewPr>
  <p:slideViewPr>
    <p:cSldViewPr>
      <p:cViewPr varScale="1">
        <p:scale>
          <a:sx n="102" d="100"/>
          <a:sy n="102" d="100"/>
        </p:scale>
        <p:origin x="192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10/4/26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10/4/26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10/4/26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10/4/26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10/4/26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10/4/26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10/4/26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10/4/26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10/4/26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upsidedownlab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ouser.com/ProductDetail/Upside-Down-Labs/BIOAMPEXGP-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4400" dirty="0"/>
              <a:t>NeuroSwitch: EEG Light Switch Proposal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/>
          <a:lstStyle/>
          <a:p>
            <a:r>
              <a:rPr lang="en-US" dirty="0"/>
              <a:t>2026.10.04</a:t>
            </a:r>
          </a:p>
          <a:p>
            <a:r>
              <a:rPr lang="en-US" dirty="0"/>
              <a:t>Sunny Yu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4" y="1298448"/>
            <a:ext cx="10972496" cy="4572000"/>
          </a:xfrm>
        </p:spPr>
        <p:txBody>
          <a:bodyPr/>
          <a:lstStyle/>
          <a:p>
            <a:r>
              <a:rPr sz="1800" b="1" dirty="0"/>
              <a:t>What is being proposed?</a:t>
            </a:r>
          </a:p>
          <a:p>
            <a:pPr lvl="1"/>
            <a:r>
              <a:rPr sz="1600" dirty="0"/>
              <a:t>A battery-powered brain-computer interface (BCI) built on the </a:t>
            </a:r>
            <a:r>
              <a:rPr sz="1600" dirty="0" err="1"/>
              <a:t>PocketBeagle</a:t>
            </a:r>
            <a:endParaRPr sz="1600" dirty="0"/>
          </a:p>
          <a:p>
            <a:pPr lvl="1"/>
            <a:r>
              <a:rPr sz="1600" dirty="0"/>
              <a:t>Records one channel of EEG from the back of the head (occipital) and detects alpha waves (8–12 Hz) in real time</a:t>
            </a:r>
          </a:p>
          <a:p>
            <a:pPr lvl="1"/>
            <a:r>
              <a:rPr sz="1600" dirty="0"/>
              <a:t>Alpha power rises sharply when the eyes close: when the processed alpha power crosses above a threshold (eyes closed) the light turns off, and when it drops back below (eyes open) the light turns back on, with no hands needed</a:t>
            </a:r>
          </a:p>
          <a:p>
            <a:r>
              <a:rPr sz="1800" b="1" dirty="0"/>
              <a:t>What is your story?</a:t>
            </a:r>
          </a:p>
          <a:p>
            <a:pPr lvl="1"/>
            <a:r>
              <a:rPr lang="en-CN" sz="1600" dirty="0"/>
              <a:t>My interest in neuroengineering motivates me to turn brain signals into useful actions. For my first EEG project, I want to build a complete acquire–process–act loop on a small, low-cost embedded Linux board. The goal is a standalone, hands-free switch that could help people with limited mobility control devices more independently.</a:t>
            </a:r>
          </a:p>
          <a:p>
            <a:pPr marL="274320" lvl="1" indent="0"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04" y="1298448"/>
            <a:ext cx="10972800" cy="4572000"/>
          </a:xfrm>
        </p:spPr>
        <p:txBody>
          <a:bodyPr/>
          <a:lstStyle/>
          <a:p>
            <a:r>
              <a:rPr sz="1800" b="1" dirty="0"/>
              <a:t>Existing projects / libraries</a:t>
            </a:r>
          </a:p>
          <a:p>
            <a:pPr lvl="1"/>
            <a:r>
              <a:rPr sz="1600" dirty="0">
                <a:hlinkClick r:id="rId2"/>
              </a:rPr>
              <a:t>Upside Down Labs BioAmp EXG Pill</a:t>
            </a:r>
            <a:r>
              <a:rPr sz="1600" dirty="0"/>
              <a:t>: open-source biopotential front-end with </a:t>
            </a:r>
            <a:r>
              <a:rPr lang="en-CN" sz="1600" dirty="0"/>
              <a:t>EEG</a:t>
            </a:r>
            <a:r>
              <a:rPr lang="zh-CN" altLang="en-US" sz="1600" dirty="0"/>
              <a:t> </a:t>
            </a:r>
            <a:r>
              <a:rPr lang="en-US" altLang="zh-CN" sz="1600" dirty="0"/>
              <a:t>filter</a:t>
            </a:r>
            <a:r>
              <a:rPr lang="zh-CN" altLang="en-US" sz="1600" dirty="0"/>
              <a:t> </a:t>
            </a:r>
            <a:r>
              <a:rPr lang="en-US" altLang="zh-CN" sz="1600" dirty="0"/>
              <a:t>and eyeblink detection</a:t>
            </a:r>
            <a:endParaRPr sz="1600" dirty="0"/>
          </a:p>
          <a:p>
            <a:pPr lvl="1"/>
            <a:r>
              <a:rPr sz="1600" dirty="0"/>
              <a:t>Typical alpha-wave “eyes-closed” demos (</a:t>
            </a:r>
            <a:r>
              <a:rPr sz="1600" dirty="0" err="1"/>
              <a:t>OpenBCI</a:t>
            </a:r>
            <a:r>
              <a:rPr sz="1600" dirty="0"/>
              <a:t>, </a:t>
            </a:r>
            <a:r>
              <a:rPr sz="1600" dirty="0" err="1"/>
              <a:t>BioAmp</a:t>
            </a:r>
            <a:r>
              <a:rPr sz="1600" dirty="0"/>
              <a:t> examples) process data on a PC</a:t>
            </a:r>
          </a:p>
          <a:p>
            <a:r>
              <a:rPr sz="1800" b="1" dirty="0"/>
              <a:t>Improvements / additions over existing projects</a:t>
            </a:r>
          </a:p>
          <a:p>
            <a:pPr lvl="1"/>
            <a:r>
              <a:rPr sz="1600" b="1" dirty="0"/>
              <a:t>Software: </a:t>
            </a:r>
            <a:r>
              <a:rPr sz="1600" dirty="0"/>
              <a:t>all processing on the </a:t>
            </a:r>
            <a:r>
              <a:rPr sz="1600" dirty="0" err="1"/>
              <a:t>PocketBeagle</a:t>
            </a:r>
            <a:r>
              <a:rPr sz="1600" dirty="0"/>
              <a:t> in Python, with no PC: band-pass filter</a:t>
            </a:r>
            <a:r>
              <a:rPr lang="en-US" sz="1600" dirty="0">
                <a:sym typeface="Wingdings" pitchFamily="2" charset="2"/>
              </a:rPr>
              <a:t> </a:t>
            </a:r>
            <a:r>
              <a:rPr sz="1600" dirty="0"/>
              <a:t>sliding-window alpha power</a:t>
            </a:r>
            <a:r>
              <a:rPr lang="en-US" sz="1600" dirty="0">
                <a:sym typeface="Wingdings" pitchFamily="2" charset="2"/>
              </a:rPr>
              <a:t> if possible calibration based on user </a:t>
            </a:r>
            <a:r>
              <a:rPr sz="1600" dirty="0"/>
              <a:t>threshold-crossing detection that switches the light on / off</a:t>
            </a:r>
          </a:p>
          <a:p>
            <a:pPr lvl="1"/>
            <a:r>
              <a:rPr sz="1600" b="1" dirty="0"/>
              <a:t>Hardware: </a:t>
            </a:r>
            <a:r>
              <a:rPr sz="1600" dirty="0"/>
              <a:t>integrates the EEG front-end (scaled to the 1.8 V ADC range), an LED, a buzzer and a button into one battery-powered device that autoboots</a:t>
            </a:r>
          </a:p>
          <a:p>
            <a:pPr lvl="1"/>
            <a:r>
              <a:rPr sz="1600" b="1" dirty="0"/>
              <a:t>Evaluation: </a:t>
            </a:r>
            <a:r>
              <a:rPr sz="1600" dirty="0"/>
              <a:t>reports how often the light state matches the eye state, false-switch rate and switching latency</a:t>
            </a:r>
          </a:p>
          <a:p>
            <a:pPr lvl="1"/>
            <a:r>
              <a:rPr sz="1600" b="1" dirty="0"/>
              <a:t>Stretch goals (if time permits): </a:t>
            </a:r>
            <a:r>
              <a:rPr sz="1600" dirty="0"/>
              <a:t>blink-artifact rejection, logging EEG data to the SD card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25880"/>
            <a:ext cx="192024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dirty="0">
                <a:solidFill>
                  <a:srgbClr val="1A1A1A"/>
                </a:solidFill>
              </a:rPr>
              <a:t>Gel electrodes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25880"/>
            <a:ext cx="192024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dirty="0" err="1">
                <a:solidFill>
                  <a:srgbClr val="1A1A1A"/>
                </a:solidFill>
              </a:rPr>
              <a:t>BioAmp</a:t>
            </a:r>
            <a:r>
              <a:rPr sz="1300" dirty="0">
                <a:solidFill>
                  <a:srgbClr val="1A1A1A"/>
                </a:solidFill>
              </a:rPr>
              <a:t> EXG Pill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325880"/>
            <a:ext cx="192024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rgbClr val="1A1A1A"/>
                </a:solidFill>
              </a:rPr>
              <a:t>Resistor divider (÷2)</a:t>
            </a:r>
          </a:p>
          <a:p>
            <a:pPr algn="ctr"/>
            <a:r>
              <a:rPr sz="1100">
                <a:solidFill>
                  <a:srgbClr val="1A1A1A"/>
                </a:solidFill>
              </a:rPr>
              <a:t>10 kΩ / 10 kΩ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132588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dirty="0">
                <a:solidFill>
                  <a:srgbClr val="1A1A1A"/>
                </a:solidFill>
              </a:rPr>
              <a:t>Push button (pull-up)</a:t>
            </a:r>
          </a:p>
          <a:p>
            <a:pPr algn="ctr"/>
            <a:r>
              <a:rPr sz="1100" dirty="0">
                <a:solidFill>
                  <a:srgbClr val="1A1A1A"/>
                </a:solidFill>
              </a:rPr>
              <a:t>mode: Calibrate / Run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1623060"/>
            <a:ext cx="914400" cy="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0" y="1325880"/>
            <a:ext cx="914400" cy="2743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100" i="0">
                <a:solidFill>
                  <a:srgbClr val="1A1A1A"/>
                </a:solidFill>
              </a:rPr>
              <a:t>Analog (µV)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0640" y="1623060"/>
            <a:ext cx="914400" cy="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20640" y="1325880"/>
            <a:ext cx="914400" cy="2743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100" i="0">
                <a:solidFill>
                  <a:srgbClr val="1A1A1A"/>
                </a:solidFill>
              </a:rPr>
              <a:t>0–3.3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606040"/>
            <a:ext cx="23774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dirty="0" err="1">
                <a:solidFill>
                  <a:srgbClr val="1A1A1A"/>
                </a:solidFill>
              </a:rPr>
              <a:t>PocketBeagle</a:t>
            </a:r>
            <a:endParaRPr sz="1200" dirty="0">
              <a:solidFill>
                <a:srgbClr val="1A1A1A"/>
              </a:solidFill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995160" y="1920240"/>
            <a:ext cx="0" cy="68580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46320" y="1984248"/>
            <a:ext cx="2103120" cy="5029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r"/>
            <a:r>
              <a:rPr sz="1100" i="0">
                <a:solidFill>
                  <a:srgbClr val="1A1A1A"/>
                </a:solidFill>
              </a:rPr>
              <a:t>0–1.65 V</a:t>
            </a:r>
          </a:p>
          <a:p>
            <a:pPr algn="r"/>
            <a:r>
              <a:rPr sz="1100" i="0">
                <a:solidFill>
                  <a:srgbClr val="1A1A1A"/>
                </a:solidFill>
              </a:rPr>
              <a:t>Analog Input / AIN0 (ADC)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24160" y="1920240"/>
            <a:ext cx="0" cy="320040"/>
          </a:xfrm>
          <a:prstGeom prst="line">
            <a:avLst/>
          </a:prstGeom>
          <a:ln w="12700">
            <a:solidFill>
              <a:srgbClr val="4D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498079" y="2240280"/>
            <a:ext cx="2926081" cy="0"/>
          </a:xfrm>
          <a:prstGeom prst="line">
            <a:avLst/>
          </a:prstGeom>
          <a:ln w="12700">
            <a:solidFill>
              <a:srgbClr val="4D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98079" y="2240280"/>
            <a:ext cx="0" cy="36576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0" y="1947672"/>
            <a:ext cx="2103120" cy="2743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100" i="0">
                <a:solidFill>
                  <a:srgbClr val="1A1A1A"/>
                </a:solidFill>
              </a:rPr>
              <a:t>GPIO (interrupt)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886200"/>
            <a:ext cx="237744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dirty="0">
                <a:solidFill>
                  <a:srgbClr val="1A1A1A"/>
                </a:solidFill>
              </a:rPr>
              <a:t>LED lamp</a:t>
            </a:r>
          </a:p>
          <a:p>
            <a:pPr algn="ctr"/>
            <a:r>
              <a:rPr sz="1100" dirty="0">
                <a:solidFill>
                  <a:srgbClr val="1A1A1A"/>
                </a:solidFill>
              </a:rPr>
              <a:t>3 large kit LEDs + 330 </a:t>
            </a:r>
            <a:r>
              <a:rPr sz="1100" dirty="0" err="1">
                <a:solidFill>
                  <a:srgbClr val="1A1A1A"/>
                </a:solidFill>
              </a:rPr>
              <a:t>Ω</a:t>
            </a:r>
            <a:endParaRPr sz="1100" dirty="0">
              <a:solidFill>
                <a:srgbClr val="1A1A1A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303520" y="3886200"/>
            <a:ext cx="237744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rgbClr val="1A1A1A"/>
                </a:solidFill>
              </a:rPr>
              <a:t>Buzzer (kit)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0" y="3291840"/>
            <a:ext cx="0" cy="274320"/>
          </a:xfrm>
          <a:prstGeom prst="line">
            <a:avLst/>
          </a:prstGeom>
          <a:ln w="12700">
            <a:solidFill>
              <a:srgbClr val="4D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931920" y="3566160"/>
            <a:ext cx="1737360" cy="0"/>
          </a:xfrm>
          <a:prstGeom prst="line">
            <a:avLst/>
          </a:prstGeom>
          <a:ln w="12700">
            <a:solidFill>
              <a:srgbClr val="4D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931920" y="3566160"/>
            <a:ext cx="0" cy="32004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23360" y="3291840"/>
            <a:ext cx="1234440" cy="25603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100" i="0">
                <a:solidFill>
                  <a:srgbClr val="1A1A1A"/>
                </a:solidFill>
              </a:rPr>
              <a:t>GPIO ×3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92240" y="3291840"/>
            <a:ext cx="0" cy="59436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56248" y="3584448"/>
            <a:ext cx="640080" cy="25603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100" i="0" dirty="0">
                <a:solidFill>
                  <a:srgbClr val="1A1A1A"/>
                </a:solidFill>
              </a:rPr>
              <a:t>PWM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4892040"/>
            <a:ext cx="237744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rgbClr val="1A1A1A"/>
                </a:solidFill>
              </a:rPr>
              <a:t>Light off (eyes closed)</a:t>
            </a:r>
          </a:p>
          <a:p>
            <a:pPr algn="ctr"/>
            <a:r>
              <a:rPr sz="1100">
                <a:solidFill>
                  <a:srgbClr val="1A1A1A"/>
                </a:solidFill>
              </a:rPr>
              <a:t>on (eyes open)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0" y="4892040"/>
            <a:ext cx="237744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rgbClr val="1A1A1A"/>
                </a:solidFill>
              </a:rPr>
              <a:t>Audio cues</a:t>
            </a:r>
          </a:p>
          <a:p>
            <a:pPr algn="ctr"/>
            <a:r>
              <a:rPr sz="1100">
                <a:solidFill>
                  <a:srgbClr val="1A1A1A"/>
                </a:solidFill>
              </a:rPr>
              <a:t>calibration, mode changes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31920" y="4480560"/>
            <a:ext cx="0" cy="41148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995928" y="4544568"/>
            <a:ext cx="822960" cy="2743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100" i="0">
                <a:solidFill>
                  <a:srgbClr val="1A1A1A"/>
                </a:solidFill>
              </a:rPr>
              <a:t>light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92240" y="4480560"/>
            <a:ext cx="0" cy="41148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56248" y="4544568"/>
            <a:ext cx="822960" cy="2743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100" i="0">
                <a:solidFill>
                  <a:srgbClr val="1A1A1A"/>
                </a:solidFill>
              </a:rPr>
              <a:t>sound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669280"/>
            <a:ext cx="11475720" cy="32004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300" i="1">
                <a:solidFill>
                  <a:srgbClr val="1A1A1A"/>
                </a:solidFill>
              </a:rPr>
              <a:t>Software loop: ADC (250 Hz) → band-pass 8–12 Hz → 1 s alpha power → threshold crossing → lamp off (eyes closed) / on (eyes open)</a:t>
            </a:r>
          </a:p>
        </p:txBody>
      </p:sp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Block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1280160"/>
            <a:ext cx="22860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dirty="0">
                <a:solidFill>
                  <a:srgbClr val="1A1A1A"/>
                </a:solidFill>
              </a:rPr>
              <a:t>USB power bank</a:t>
            </a:r>
          </a:p>
          <a:p>
            <a:pPr algn="ctr"/>
            <a:r>
              <a:rPr sz="1100" dirty="0">
                <a:solidFill>
                  <a:srgbClr val="1A1A1A"/>
                </a:solidFill>
              </a:rPr>
              <a:t>5 V, ≥1 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0760" y="1828800"/>
            <a:ext cx="0" cy="45720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0" y="2286000"/>
            <a:ext cx="301752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>
                <a:solidFill>
                  <a:srgbClr val="1A1A1A"/>
                </a:solidFill>
              </a:rPr>
              <a:t>PocketBeagle</a:t>
            </a:r>
          </a:p>
          <a:p>
            <a:pPr algn="ctr"/>
            <a:r>
              <a:rPr sz="1200">
                <a:solidFill>
                  <a:srgbClr val="1A1A1A"/>
                </a:solidFill>
              </a:rPr>
              <a:t>~5 V in, 250–400 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520440"/>
            <a:ext cx="30175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rgbClr val="1A1A1A"/>
                </a:solidFill>
              </a:rPr>
              <a:t>3.3 V 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520440"/>
            <a:ext cx="30175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rgbClr val="1A1A1A"/>
                </a:solidFill>
              </a:rPr>
              <a:t>GPIO / PWM pins (3.3 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3520440"/>
            <a:ext cx="21031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rgbClr val="1A1A1A"/>
                </a:solidFill>
              </a:rPr>
              <a:t>VDD_ADC (1.8 V)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606040" y="2583180"/>
            <a:ext cx="1965960" cy="0"/>
          </a:xfrm>
          <a:prstGeom prst="line">
            <a:avLst/>
          </a:prstGeom>
          <a:ln w="12700">
            <a:solidFill>
              <a:srgbClr val="4D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06040" y="2583180"/>
            <a:ext cx="0" cy="93726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78040" y="2880360"/>
            <a:ext cx="0" cy="64008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89520" y="2583180"/>
            <a:ext cx="3017520" cy="0"/>
          </a:xfrm>
          <a:prstGeom prst="line">
            <a:avLst/>
          </a:prstGeom>
          <a:ln w="12700">
            <a:solidFill>
              <a:srgbClr val="4D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07040" y="2583180"/>
            <a:ext cx="0" cy="93726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" y="4572000"/>
            <a:ext cx="210312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rgbClr val="1A1A1A"/>
                </a:solidFill>
              </a:rPr>
              <a:t>BioAmp EXG Pill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63040" y="4023360"/>
            <a:ext cx="0" cy="54864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27048" y="4160520"/>
            <a:ext cx="1371600" cy="2743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100" i="0">
                <a:solidFill>
                  <a:srgbClr val="1A1A1A"/>
                </a:solidFill>
              </a:rPr>
              <a:t>3.3 V, ~2 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4572000"/>
            <a:ext cx="210312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rgbClr val="1A1A1A"/>
                </a:solidFill>
              </a:rPr>
              <a:t>Push button pull-up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49039" y="4023360"/>
            <a:ext cx="0" cy="54864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13048" y="4160520"/>
            <a:ext cx="1371600" cy="2743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100" i="0">
                <a:solidFill>
                  <a:srgbClr val="1A1A1A"/>
                </a:solidFill>
              </a:rPr>
              <a:t>3.3 V, &lt;1 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4572000"/>
            <a:ext cx="210312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dirty="0">
                <a:solidFill>
                  <a:srgbClr val="1A1A1A"/>
                </a:solidFill>
              </a:rPr>
              <a:t>LED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5040" y="4023360"/>
            <a:ext cx="0" cy="54864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69480" y="4572000"/>
            <a:ext cx="210312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rgbClr val="1A1A1A"/>
                </a:solidFill>
              </a:rPr>
              <a:t>Buzzer (kit)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21040" y="4023360"/>
            <a:ext cx="0" cy="54864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85048" y="4160520"/>
            <a:ext cx="1371600" cy="2743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100" i="0" dirty="0">
                <a:solidFill>
                  <a:srgbClr val="1A1A1A"/>
                </a:solidFill>
              </a:rPr>
              <a:t>PWM, low current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4572000"/>
            <a:ext cx="210312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>
                <a:solidFill>
                  <a:srgbClr val="1A1A1A"/>
                </a:solidFill>
              </a:rPr>
              <a:t>ADC input (AIN0)</a:t>
            </a:r>
          </a:p>
          <a:p>
            <a:pPr algn="ctr"/>
            <a:r>
              <a:rPr sz="1100">
                <a:solidFill>
                  <a:srgbClr val="1A1A1A"/>
                </a:solidFill>
              </a:rPr>
              <a:t>EEG ÷2 → ≤1.65 V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607040" y="4023360"/>
            <a:ext cx="0" cy="548640"/>
          </a:xfrm>
          <a:prstGeom prst="line">
            <a:avLst/>
          </a:prstGeom>
          <a:ln w="12700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671048" y="4160520"/>
            <a:ext cx="1371600" cy="2743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100" i="0">
                <a:solidFill>
                  <a:srgbClr val="1A1A1A"/>
                </a:solidFill>
              </a:rPr>
              <a:t>1.8 V max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1280160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200">
                <a:solidFill>
                  <a:srgbClr val="1A1A1A"/>
                </a:solidFill>
              </a:rPr>
              <a:t>Battery power only while electrodes are attached; no connection to wall power for user safety. All grounds common.</a:t>
            </a:r>
          </a:p>
        </p:txBody>
      </p:sp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346113"/>
              </p:ext>
            </p:extLst>
          </p:nvPr>
        </p:nvGraphicFramePr>
        <p:xfrm>
          <a:off x="609600" y="1295400"/>
          <a:ext cx="10972800" cy="32359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837714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EDES301</a:t>
                      </a:r>
                    </a:p>
                    <a:p>
                      <a:pPr algn="ctr"/>
                      <a:r>
                        <a:rPr lang="en-US" dirty="0"/>
                        <a:t xml:space="preserve">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BioAmp EXG Pill kit (2 boards, 15 gel electrodes, cables)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(partial)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$69.00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PocketBeagle (provided)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Large LEDs ×3 + 330 Ω resistors (parts kit)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Buzzer (parts kit)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Push button (parts kit)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Jumper wires + breadboard (parts kit)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USB power bank, 5 V (own)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4846320"/>
            <a:ext cx="10972800" cy="7315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</a:rPr>
              <a:t>Requested from EDES301: </a:t>
            </a:r>
            <a:r>
              <a:rPr sz="1600" b="0" dirty="0">
                <a:solidFill>
                  <a:srgbClr val="1A1A1A"/>
                </a:solidFill>
              </a:rPr>
              <a:t>$35.00 (remaining ~$34 self-funded)</a:t>
            </a:r>
          </a:p>
          <a:p>
            <a:r>
              <a:rPr sz="1600"/>
              <a:t>The BioAmp kit (Mouser) is the only part not on the EDES301 parts list.</a:t>
            </a:r>
          </a:p>
        </p:txBody>
      </p:sp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8660</TotalTime>
  <Words>650</Words>
  <Application>Microsoft Macintosh PowerPoint</Application>
  <PresentationFormat>Widescreen</PresentationFormat>
  <Paragraphs>107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Wingdings</vt:lpstr>
      <vt:lpstr>Diamond Grid 16x9</vt:lpstr>
      <vt:lpstr>EDES 301  NeuroSwitch: EEG Light Switch Proposal</vt:lpstr>
      <vt:lpstr>Background Information</vt:lpstr>
      <vt:lpstr>Background Information</vt:lpstr>
      <vt:lpstr>System Block Diagram</vt:lpstr>
      <vt:lpstr>Power Block Diagram</vt:lpstr>
      <vt:lpstr>Components / Budget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2325545923@qq.com</cp:lastModifiedBy>
  <cp:revision>418</cp:revision>
  <dcterms:created xsi:type="dcterms:W3CDTF">2018-01-09T20:24:50Z</dcterms:created>
  <dcterms:modified xsi:type="dcterms:W3CDTF">2026-10-05T04:15:53Z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