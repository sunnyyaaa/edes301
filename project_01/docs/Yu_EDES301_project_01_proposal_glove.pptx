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1" r:id="rId2"/>
    <p:sldId id="372" r:id="rId3"/>
    <p:sldId id="373" r:id="rId4"/>
    <p:sldId id="368" r:id="rId5"/>
    <p:sldId id="370" r:id="rId6"/>
    <p:sldId id="36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45" autoAdjust="0"/>
    <p:restoredTop sz="94645" autoAdjust="0"/>
  </p:normalViewPr>
  <p:slideViewPr>
    <p:cSldViewPr>
      <p:cViewPr varScale="1">
        <p:scale>
          <a:sx n="113" d="100"/>
          <a:sy n="113" d="100"/>
        </p:scale>
        <p:origin x="208" y="18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10/4/26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10/4/26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10/4/26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10/4/26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10/4/26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10/4/26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10/4/26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10/4/26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10/4/26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haptx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dafruit.com/product/4663" TargetMode="External"/><Relationship Id="rId2" Type="http://schemas.openxmlformats.org/officeDocument/2006/relationships/hyperlink" Target="https://www.adafruit.com/product/469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mazon.com/dp/B01N2K48HR" TargetMode="External"/><Relationship Id="rId5" Type="http://schemas.openxmlformats.org/officeDocument/2006/relationships/hyperlink" Target="https://www.adafruit.com/product/5648" TargetMode="External"/><Relationship Id="rId4" Type="http://schemas.openxmlformats.org/officeDocument/2006/relationships/hyperlink" Target="https://www.adafruit.com/product/16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4" y="1909346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CN" sz="6000" dirty="0"/>
              <a:t>Pneumatic Haptic Feedback Glove </a:t>
            </a:r>
            <a:r>
              <a:rPr lang="en-US" sz="6000" dirty="0"/>
              <a:t>Proposal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/>
          <a:lstStyle/>
          <a:p>
            <a:r>
              <a:rPr lang="en-US" altLang="zh-CN" dirty="0"/>
              <a:t>2026.10.04</a:t>
            </a:r>
            <a:endParaRPr lang="en-US" dirty="0"/>
          </a:p>
          <a:p>
            <a:r>
              <a:rPr lang="en-US" dirty="0"/>
              <a:t>Sunny Yu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0B37A-FFD1-58E2-850E-07AAE2D76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607F0-847A-AE59-8CE0-93C5D014E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AE8D7-7BEB-2102-611A-9946C2E09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7124700" cy="4724399"/>
          </a:xfrm>
        </p:spPr>
        <p:txBody>
          <a:bodyPr>
            <a:normAutofit/>
          </a:bodyPr>
          <a:lstStyle/>
          <a:p>
            <a:r>
              <a:rPr lang="en-CN" b="1" dirty="0"/>
              <a:t>Project Idea and Motivation</a:t>
            </a:r>
          </a:p>
          <a:p>
            <a:pPr lvl="1"/>
            <a:r>
              <a:rPr lang="en-CN" dirty="0"/>
              <a:t>During my summer internship, I developed a tactile feedback system that used two vibration motors to convey contact information from a BCI-controlled robotic arm. This experience motivated me to explore pressure-based feedback that may better represent the sensation of contact during grasping.</a:t>
            </a:r>
          </a:p>
          <a:p>
            <a:pPr lvl="1"/>
            <a:r>
              <a:rPr lang="en-CN" dirty="0"/>
              <a:t>For this project, I propose a PocketBeagle-controlled glove with two small inflatable air bladders. Two external force-sensitive resistors (FSRs) will simulate contact sensors on a robotic hand. Pressing either sensor will inflate the corresponding bladder by an amount that scales with the applied force (open-loop control), producing localized pressure feedback on the glove. Releasing the sensor vents the bladder.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7E6944-4939-0CEC-3BE5-9846E0E557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07" t="19310" b="11746"/>
          <a:stretch>
            <a:fillRect/>
          </a:stretch>
        </p:blipFill>
        <p:spPr>
          <a:xfrm>
            <a:off x="9159905" y="228600"/>
            <a:ext cx="2790825" cy="28194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21394C-50F2-0416-5850-38299C5E5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9905" y="3162300"/>
            <a:ext cx="2790825" cy="275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6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2ACEE-E294-FC5D-A617-71B4027D7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76F07-2A89-9E6D-FAFE-BDB20AC3E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A3B3-B067-C2CD-884E-714CB0C94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7124700" cy="4724399"/>
          </a:xfrm>
        </p:spPr>
        <p:txBody>
          <a:bodyPr>
            <a:normAutofit/>
          </a:bodyPr>
          <a:lstStyle/>
          <a:p>
            <a:r>
              <a:rPr lang="en-CN" b="1" dirty="0"/>
              <a:t>Improvements over the Previous</a:t>
            </a:r>
          </a:p>
          <a:p>
            <a:pPr lvl="1"/>
            <a:r>
              <a:rPr lang="en-CN" b="1" dirty="0"/>
              <a:t>Hardware:</a:t>
            </a:r>
            <a:r>
              <a:rPr lang="en-CN" dirty="0"/>
              <a:t> Replace vibration motors with pneumatic actuators and integrate two feedback points into a wearable glove.</a:t>
            </a:r>
          </a:p>
          <a:p>
            <a:pPr lvl="1"/>
            <a:r>
              <a:rPr lang="en-CN" b="1" dirty="0"/>
              <a:t>Software:</a:t>
            </a:r>
            <a:r>
              <a:rPr lang="en-CN" dirty="0"/>
              <a:t> Replace direct vibration commands with an open-loop force-to-inflation mapping: FSR readings are quantized into levels (none / light / medium / firm), each mapped to a pump on-time / PWM duty cycle; the valve vents the bladder on release.</a:t>
            </a:r>
          </a:p>
          <a:p>
            <a:pPr lvl="1"/>
            <a:r>
              <a:rPr lang="en-CN" b="1" dirty="0"/>
              <a:t>Evaluation:</a:t>
            </a:r>
            <a:r>
              <a:rPr lang="en-CN" dirty="0"/>
              <a:t> Log FSR readings, commanded levels, and actuation timestamps to measure input-to-actuation latency; run a simple user test to check whether a wearer can distinguish the pressure levels on each finger.</a:t>
            </a:r>
          </a:p>
          <a:p>
            <a:r>
              <a:rPr lang="en-CN" b="1" dirty="0"/>
              <a:t>Related Projects</a:t>
            </a:r>
            <a:endParaRPr lang="en-CN" dirty="0"/>
          </a:p>
          <a:p>
            <a:pPr lvl="1"/>
            <a:r>
              <a:rPr lang="en-CN" b="1" dirty="0">
                <a:hlinkClick r:id="rId2"/>
              </a:rPr>
              <a:t>HaptX: </a:t>
            </a:r>
            <a:r>
              <a:rPr lang="en-CN" dirty="0"/>
              <a:t>commercial microfluidic haptic glove that inspired this project. This project is a low-cost, open-source, two-channel pneumatic version built from off-the-shelf parts on a PocketBeagle.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6AD667-C11D-FD5C-E0C1-A8F5C70DDB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07" t="19310" b="11746"/>
          <a:stretch>
            <a:fillRect/>
          </a:stretch>
        </p:blipFill>
        <p:spPr>
          <a:xfrm>
            <a:off x="9159905" y="228600"/>
            <a:ext cx="2790825" cy="28194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20945A-657C-63E8-39F1-36601B9BB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9905" y="3162300"/>
            <a:ext cx="2790825" cy="275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99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B93E4-AB7E-4F3D-B6C5-4ED4B78F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Block Diagram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2692C4-2866-14C1-59BA-EFFEAEFF0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228600"/>
            <a:ext cx="5959929" cy="574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FEA3-93A8-4943-9F3A-4798FB13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Block Diagram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A2E249-7D1E-82D6-C77A-981CF6BDB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9538F4-A517-0D79-D76A-24867690A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95400"/>
            <a:ext cx="7772400" cy="451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61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467B-51C2-4E0B-B52A-83BD9F0E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/ Budget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B47F4B-CB02-4D02-BE84-F6BC57D0F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8690717"/>
              </p:ext>
            </p:extLst>
          </p:nvPr>
        </p:nvGraphicFramePr>
        <p:xfrm>
          <a:off x="609600" y="1295400"/>
          <a:ext cx="10972800" cy="36169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67525343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37205878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56583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sz="140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EDES301 to Buy?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078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hlinkClick r:id="rId2"/>
                        </a:rPr>
                        <a:t>Air Pump — Adafruit #4699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$15.90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hlinkClick r:id="rId3"/>
                        </a:rPr>
                        <a:t>3-Way Air Valve — Adafruit #4663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$5.90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hlinkClick r:id="rId4"/>
                        </a:rPr>
                        <a:t>FSR — Adafruit #166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$7.90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hlinkClick r:id="rId5"/>
                        </a:rPr>
                        <a:t>MOSFET Driver — Adafruit #5648 (1 per pump / valve)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$15.80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hlinkClick r:id="rId6"/>
                        </a:rPr>
                        <a:t>5 V 2 A Adjustable Voltage Adapter (EDES301 parts list)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Silicone air tubing (3–4 mm ID)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Small air bladders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400" dirty="0"/>
                        <a:t>No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Glove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Start / stop button + 10 kΩ pull-up resistor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No (parts kit)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$0.00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/>
                        <a:t>Total (known items)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$61.48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76A6262-9FAA-5DFD-2905-9E34A05EDCE4}"/>
              </a:ext>
            </a:extLst>
          </p:cNvPr>
          <p:cNvSpPr txBox="1"/>
          <p:nvPr/>
        </p:nvSpPr>
        <p:spPr>
          <a:xfrm>
            <a:off x="609600" y="5300000"/>
            <a:ext cx="1097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Known items total $61.48, above the $25–35 EDES301 supplement; the amount over the supplement will be self-funded or sourced from the OEDK (to be discussed in the project meeting).</a:t>
            </a:r>
          </a:p>
        </p:txBody>
      </p:sp>
    </p:spTree>
    <p:extLst>
      <p:ext uri="{BB962C8B-B14F-4D97-AF65-F5344CB8AC3E}">
        <p14:creationId xmlns:p14="http://schemas.microsoft.com/office/powerpoint/2010/main" val="113124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8643</TotalTime>
  <Words>425</Words>
  <Application>Microsoft Macintosh PowerPoint</Application>
  <PresentationFormat>Widescreen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Diamond Grid 16x9</vt:lpstr>
      <vt:lpstr>EDES 301  Pneumatic Haptic Feedback Glove Proposal</vt:lpstr>
      <vt:lpstr>Background Information</vt:lpstr>
      <vt:lpstr>Background Information</vt:lpstr>
      <vt:lpstr>System Block Diagram</vt:lpstr>
      <vt:lpstr>Power Block Diagram</vt:lpstr>
      <vt:lpstr>Components / Budget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2325545923@qq.com</cp:lastModifiedBy>
  <cp:revision>416</cp:revision>
  <dcterms:created xsi:type="dcterms:W3CDTF">2018-01-09T20:24:50Z</dcterms:created>
  <dcterms:modified xsi:type="dcterms:W3CDTF">2026-10-04T20:55:16Z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